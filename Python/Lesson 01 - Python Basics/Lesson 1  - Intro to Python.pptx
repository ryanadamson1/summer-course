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8"/>
  </p:notesMasterIdLst>
  <p:sldIdLst>
    <p:sldId id="321" r:id="rId2"/>
    <p:sldId id="328" r:id="rId3"/>
    <p:sldId id="329" r:id="rId4"/>
    <p:sldId id="486" r:id="rId5"/>
    <p:sldId id="304" r:id="rId6"/>
    <p:sldId id="276" r:id="rId7"/>
    <p:sldId id="305" r:id="rId8"/>
    <p:sldId id="277" r:id="rId9"/>
    <p:sldId id="300" r:id="rId10"/>
    <p:sldId id="284" r:id="rId11"/>
    <p:sldId id="324" r:id="rId12"/>
    <p:sldId id="291" r:id="rId13"/>
    <p:sldId id="323" r:id="rId14"/>
    <p:sldId id="292" r:id="rId15"/>
    <p:sldId id="285" r:id="rId16"/>
    <p:sldId id="306" r:id="rId17"/>
    <p:sldId id="301" r:id="rId18"/>
    <p:sldId id="308" r:id="rId19"/>
    <p:sldId id="325" r:id="rId20"/>
    <p:sldId id="326" r:id="rId21"/>
    <p:sldId id="287" r:id="rId22"/>
    <p:sldId id="307" r:id="rId23"/>
    <p:sldId id="293" r:id="rId24"/>
    <p:sldId id="309" r:id="rId25"/>
    <p:sldId id="289" r:id="rId26"/>
    <p:sldId id="310" r:id="rId27"/>
    <p:sldId id="311" r:id="rId28"/>
    <p:sldId id="322" r:id="rId29"/>
    <p:sldId id="330" r:id="rId30"/>
    <p:sldId id="331" r:id="rId31"/>
    <p:sldId id="332" r:id="rId32"/>
    <p:sldId id="333" r:id="rId33"/>
    <p:sldId id="334" r:id="rId34"/>
    <p:sldId id="312" r:id="rId35"/>
    <p:sldId id="327" r:id="rId36"/>
    <p:sldId id="313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88629" autoAdjust="0"/>
  </p:normalViewPr>
  <p:slideViewPr>
    <p:cSldViewPr snapToGrid="0">
      <p:cViewPr varScale="1">
        <p:scale>
          <a:sx n="129" d="100"/>
          <a:sy n="129" d="100"/>
        </p:scale>
        <p:origin x="124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CDABD0AA-F102-9AD6-CD01-FD54BF12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ADFBFA33-F6A7-56AD-0CB4-9814A7BEB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16ACE0C7-ACFE-82C1-D943-EF465E3E2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3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F9A78601-1317-308F-EBF0-CF3337B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B0BF3B59-447E-0894-9988-62D62BC80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A5F036A4-B5E8-319A-3C65-C69726385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8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7BB565DC-02B6-5292-0FFD-81AB874B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6C3BC44D-5ACD-7E94-567D-80A23BC7E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BA4593AD-D636-0929-A118-52287718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19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E500EDE3-AB29-4573-C523-5546E5D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738B1D39-4CAD-B540-1528-329172FA2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08042B62-5B5A-0D07-D9B5-0620202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859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589D4B12-06FE-B496-FB52-EC639E1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2EE49472-D8A2-7363-3C52-2A5B435C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525575EB-4AE6-B725-2376-0055698A6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695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C9142D8C-B927-AD3C-4911-40D1936C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49AA4BAF-7A9D-D549-1367-DFB3DC53D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E00BA3E7-BDAA-05CA-F4A9-8FDE6374B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419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269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273BF0FD-7DE2-AA97-A48A-A0836E0E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A39109DD-8FD9-478C-B827-186A618C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B189F1C5-4AA3-783E-36E8-01A90853D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2E868CB3-79C6-00E1-D5BA-F92FBFFDE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6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9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9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9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9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9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9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9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9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9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9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9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9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9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h2p08AfaQ8?start=121&amp;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41FB50C-5882-3994-477F-1ACB25D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0D44D-D9EF-9EB6-3220-959D475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kobe</a:t>
            </a:r>
            <a:r>
              <a:rPr lang="en-US" dirty="0"/>
              <a:t> Bryant have to do with becoming a software developer?</a:t>
            </a:r>
          </a:p>
        </p:txBody>
      </p:sp>
      <p:pic>
        <p:nvPicPr>
          <p:cNvPr id="6" name="Online Media 5" title="Kobe Bryant | Best Motivational Speech | New [HD]">
            <a:hlinkClick r:id="" action="ppaction://media"/>
            <a:extLst>
              <a:ext uri="{FF2B5EF4-FFF2-40B4-BE49-F238E27FC236}">
                <a16:creationId xmlns:a16="http://schemas.microsoft.com/office/drawing/2014/main" id="{6EA51B32-6B77-57A6-D9AA-EE3075D1A6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288" y="1159004"/>
            <a:ext cx="6506543" cy="3675885"/>
          </a:xfrm>
          <a:prstGeom prst="rect">
            <a:avLst/>
          </a:prstGeom>
        </p:spPr>
      </p:pic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46D3997A-6796-FDE3-5188-E92922B91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49450" y="1282446"/>
            <a:ext cx="2172630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will show you the way… </a:t>
            </a:r>
          </a:p>
          <a:p>
            <a:pPr lvl="1"/>
            <a:r>
              <a:rPr lang="en-US" dirty="0"/>
              <a:t>but you have to put in the 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have to help one another to truly succeed</a:t>
            </a:r>
          </a:p>
        </p:txBody>
      </p:sp>
    </p:spTree>
    <p:extLst>
      <p:ext uri="{BB962C8B-B14F-4D97-AF65-F5344CB8AC3E}">
        <p14:creationId xmlns:p14="http://schemas.microsoft.com/office/powerpoint/2010/main" val="23992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4853E23-BD9B-7D94-5518-DD7A0DF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0308D-6A1D-F3E1-B31C-2D7EECDD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My teaching philosophy</a:t>
            </a:r>
          </a:p>
        </p:txBody>
      </p:sp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58E249F6-8E86-4E4F-4EB4-35D6F8C06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79" y="1104027"/>
            <a:ext cx="6628658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You are on a journey to become a professional software developer, the expectations are that you work like a professional</a:t>
            </a:r>
          </a:p>
          <a:p>
            <a:pPr lvl="0"/>
            <a:r>
              <a:rPr lang="en-US" dirty="0"/>
              <a:t>At a minimum:</a:t>
            </a:r>
          </a:p>
          <a:p>
            <a:pPr lvl="1"/>
            <a:r>
              <a:rPr lang="en-US" dirty="0"/>
              <a:t>You complete exercises outside of class until you get it right</a:t>
            </a:r>
          </a:p>
          <a:p>
            <a:pPr lvl="1"/>
            <a:r>
              <a:rPr lang="en-US" dirty="0"/>
              <a:t>You practice the concepts presented in class on your own</a:t>
            </a:r>
          </a:p>
          <a:p>
            <a:pPr lvl="1"/>
            <a:r>
              <a:rPr lang="en-US" dirty="0"/>
              <a:t>You recognize things you do not understand and ask questions</a:t>
            </a:r>
          </a:p>
          <a:p>
            <a:pPr lvl="1"/>
            <a:endParaRPr lang="en-US" dirty="0"/>
          </a:p>
          <a:p>
            <a:r>
              <a:rPr lang="en-US" dirty="0"/>
              <a:t>If you truly desire to be a professional:</a:t>
            </a:r>
          </a:p>
          <a:p>
            <a:pPr lvl="1"/>
            <a:r>
              <a:rPr lang="en-US" dirty="0"/>
              <a:t>You complete exercises outside of class until you can’t get it wrong</a:t>
            </a:r>
          </a:p>
          <a:p>
            <a:pPr lvl="1"/>
            <a:r>
              <a:rPr lang="en-US" dirty="0"/>
              <a:t>You leverage additional resources to learn more than you are being taught in class</a:t>
            </a:r>
          </a:p>
          <a:p>
            <a:pPr lvl="1"/>
            <a:r>
              <a:rPr lang="en-US" dirty="0"/>
              <a:t>You deeply engage with the material and play with the concepts on your own creatively (write your own applications and use the tools you are being taught).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8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989100"/>
            <a:ext cx="8382000" cy="3716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48683" y="1605782"/>
            <a:ext cx="4713249" cy="23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b="1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3" y="1653633"/>
            <a:ext cx="4023360" cy="3429000"/>
          </a:xfrm>
        </p:spPr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0196" y="1357428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4095" y="1405889"/>
            <a:ext cx="4023360" cy="3429000"/>
          </a:xfrm>
        </p:spPr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5981F83-6455-7C6A-7A66-DD51E676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4E090C27-93AA-8101-B770-1F7EF32B1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CA9-3E9A-4C28-86BA-38B9B6AF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7396AE82-1906-8A60-4A7E-4A1C42F52E1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>
            <a:extLst>
              <a:ext uri="{FF2B5EF4-FFF2-40B4-BE49-F238E27FC236}">
                <a16:creationId xmlns:a16="http://schemas.microsoft.com/office/drawing/2014/main" id="{7BBFE5B9-8947-BEFD-92A7-EA5B23C51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814946"/>
              </p:ext>
            </p:extLst>
          </p:nvPr>
        </p:nvGraphicFramePr>
        <p:xfrm>
          <a:off x="3358137" y="1472143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0" name="Google Shape;360;p61">
            <a:extLst>
              <a:ext uri="{FF2B5EF4-FFF2-40B4-BE49-F238E27FC236}">
                <a16:creationId xmlns:a16="http://schemas.microsoft.com/office/drawing/2014/main" id="{7C8A2398-ADBB-399E-BC5C-2201946B3B32}"/>
              </a:ext>
            </a:extLst>
          </p:cNvPr>
          <p:cNvSpPr/>
          <p:nvPr/>
        </p:nvSpPr>
        <p:spPr>
          <a:xfrm>
            <a:off x="3358136" y="1168035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5426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720109864"/>
              </p:ext>
            </p:extLst>
          </p:nvPr>
        </p:nvGraphicFramePr>
        <p:xfrm>
          <a:off x="3104407" y="1482550"/>
          <a:ext cx="3355866" cy="2319944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97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 =</a:t>
                      </a: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 dirty="0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 dirty="0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1" name="Google Shape;361;p61"/>
          <p:cNvSpPr/>
          <p:nvPr/>
        </p:nvSpPr>
        <p:spPr>
          <a:xfrm>
            <a:off x="3632232" y="722297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dirty="0"/>
          </a:p>
        </p:txBody>
      </p:sp>
      <p:sp>
        <p:nvSpPr>
          <p:cNvPr id="365" name="Google Shape;365;p61"/>
          <p:cNvSpPr/>
          <p:nvPr/>
        </p:nvSpPr>
        <p:spPr>
          <a:xfrm>
            <a:off x="473277" y="1365012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B2654A8-1FF2-DE3E-B180-13F2748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AB6F84CC-9B9C-2720-7098-64EA8A61C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1B65CD4D-786B-7086-DCFD-605672AE4BA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>
            <a:extLst>
              <a:ext uri="{FF2B5EF4-FFF2-40B4-BE49-F238E27FC236}">
                <a16:creationId xmlns:a16="http://schemas.microsoft.com/office/drawing/2014/main" id="{E76A87E5-53D4-66D5-439E-6CB616EB0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485074"/>
              </p:ext>
            </p:extLst>
          </p:nvPr>
        </p:nvGraphicFramePr>
        <p:xfrm>
          <a:off x="907343" y="1450497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2" name="Google Shape;362;p61">
            <a:extLst>
              <a:ext uri="{FF2B5EF4-FFF2-40B4-BE49-F238E27FC236}">
                <a16:creationId xmlns:a16="http://schemas.microsoft.com/office/drawing/2014/main" id="{2A95F14A-3C7E-27F5-4D1D-49E755ED3107}"/>
              </a:ext>
            </a:extLst>
          </p:cNvPr>
          <p:cNvSpPr/>
          <p:nvPr/>
        </p:nvSpPr>
        <p:spPr>
          <a:xfrm>
            <a:off x="907343" y="102436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>
            <a:extLst>
              <a:ext uri="{FF2B5EF4-FFF2-40B4-BE49-F238E27FC236}">
                <a16:creationId xmlns:a16="http://schemas.microsoft.com/office/drawing/2014/main" id="{0C8B3922-E01A-4F2B-C2E7-09CA4DC63B09}"/>
              </a:ext>
            </a:extLst>
          </p:cNvPr>
          <p:cNvSpPr/>
          <p:nvPr/>
        </p:nvSpPr>
        <p:spPr>
          <a:xfrm>
            <a:off x="4950397" y="102436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>
            <a:extLst>
              <a:ext uri="{FF2B5EF4-FFF2-40B4-BE49-F238E27FC236}">
                <a16:creationId xmlns:a16="http://schemas.microsoft.com/office/drawing/2014/main" id="{70F2AFC1-6F84-047A-3EB1-2E07458A4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31570"/>
              </p:ext>
            </p:extLst>
          </p:nvPr>
        </p:nvGraphicFramePr>
        <p:xfrm>
          <a:off x="4940882" y="1450497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0" lvl="0" indent="0">
              <a:buNone/>
            </a:pPr>
            <a:r>
              <a:rPr lang="en-US" b="1" dirty="0"/>
              <a:t>PEMDAS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EF354-A645-BC0D-EB5B-A40756A8046A}"/>
              </a:ext>
            </a:extLst>
          </p:cNvPr>
          <p:cNvSpPr txBox="1"/>
          <p:nvPr/>
        </p:nvSpPr>
        <p:spPr>
          <a:xfrm>
            <a:off x="1289825" y="342013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10 * 10 + 7 </a:t>
            </a:r>
          </a:p>
          <a:p>
            <a:r>
              <a:rPr lang="en-US" b="1" dirty="0">
                <a:solidFill>
                  <a:srgbClr val="00B050"/>
                </a:solidFill>
              </a:rPr>
              <a:t>100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107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C5ED-5013-085B-F7DB-700CBECB7F76}"/>
              </a:ext>
            </a:extLst>
          </p:cNvPr>
          <p:cNvSpPr txBox="1"/>
          <p:nvPr/>
        </p:nvSpPr>
        <p:spPr>
          <a:xfrm>
            <a:off x="4653841" y="3420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15 – 5 * 10 + 7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15 -  50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-35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C1E7-3607-432F-7386-73846379658D}"/>
              </a:ext>
            </a:extLst>
          </p:cNvPr>
          <p:cNvSpPr txBox="1"/>
          <p:nvPr/>
        </p:nvSpPr>
        <p:spPr>
          <a:xfrm>
            <a:off x="1038922" y="3343187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2" indent="0">
              <a:buNone/>
            </a:pPr>
            <a:r>
              <a:rPr lang="en-US" dirty="0"/>
              <a:t>(15 – 5) * 10 + 7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73" y="1757391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Given the snippet from below, 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082580"/>
              </p:ext>
            </p:extLst>
          </p:nvPr>
        </p:nvGraphicFramePr>
        <p:xfrm>
          <a:off x="4311805" y="651511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45639"/>
              </p:ext>
            </p:extLst>
          </p:nvPr>
        </p:nvGraphicFramePr>
        <p:xfrm>
          <a:off x="4373322" y="1073786"/>
          <a:ext cx="238521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068339" y="3282951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C987-FB3F-AAF6-0E62-328190BBB9B5}"/>
              </a:ext>
            </a:extLst>
          </p:cNvPr>
          <p:cNvSpPr txBox="1"/>
          <p:nvPr/>
        </p:nvSpPr>
        <p:spPr>
          <a:xfrm>
            <a:off x="6697023" y="991037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string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float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B6BA-496C-5171-202C-09F18E0C7C4A}"/>
              </a:ext>
            </a:extLst>
          </p:cNvPr>
          <p:cNvSpPr txBox="1"/>
          <p:nvPr/>
        </p:nvSpPr>
        <p:spPr>
          <a:xfrm>
            <a:off x="7842470" y="980302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“hello”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E45539F-57DD-E102-29CE-E94AAB03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E756ACEB-7A05-C3A4-2497-4F5E1C30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Rules</a:t>
            </a:r>
          </a:p>
        </p:txBody>
      </p:sp>
      <p:sp>
        <p:nvSpPr>
          <p:cNvPr id="332" name="Google Shape;332;p57">
            <a:extLst>
              <a:ext uri="{FF2B5EF4-FFF2-40B4-BE49-F238E27FC236}">
                <a16:creationId xmlns:a16="http://schemas.microsoft.com/office/drawing/2014/main" id="{8EAF487E-A428-F995-FE74-6D57480B413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32120" y="948042"/>
            <a:ext cx="8479759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include an underscore (_)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other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be the same name as a predefined Python function, but this will remove functionality from the language</a:t>
            </a:r>
          </a:p>
        </p:txBody>
      </p:sp>
    </p:spTree>
    <p:extLst>
      <p:ext uri="{BB962C8B-B14F-4D97-AF65-F5344CB8AC3E}">
        <p14:creationId xmlns:p14="http://schemas.microsoft.com/office/powerpoint/2010/main" val="15137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662F86-93D2-EC03-4783-F9AF1A4B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065BDC3D-7D5B-84C2-1EBA-ACEA77774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6EAFC3-A0FB-3981-9A92-C75E70A08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06845"/>
              </p:ext>
            </p:extLst>
          </p:nvPr>
        </p:nvGraphicFramePr>
        <p:xfrm>
          <a:off x="551493" y="1177846"/>
          <a:ext cx="7860308" cy="2787807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3930154">
                  <a:extLst>
                    <a:ext uri="{9D8B030D-6E8A-4147-A177-3AD203B41FA5}">
                      <a16:colId xmlns:a16="http://schemas.microsoft.com/office/drawing/2014/main" val="3084290269"/>
                    </a:ext>
                  </a:extLst>
                </a:gridCol>
                <a:gridCol w="3930154">
                  <a:extLst>
                    <a:ext uri="{9D8B030D-6E8A-4147-A177-3AD203B41FA5}">
                      <a16:colId xmlns:a16="http://schemas.microsoft.com/office/drawing/2014/main" val="781559157"/>
                    </a:ext>
                  </a:extLst>
                </a:gridCol>
              </a:tblGrid>
              <a:tr h="483427">
                <a:tc>
                  <a:txBody>
                    <a:bodyPr/>
                    <a:lstStyle/>
                    <a:p>
                      <a:r>
                        <a:rPr lang="en-US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Allowed?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9108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magic_number</a:t>
                      </a:r>
                      <a:r>
                        <a:rPr lang="en-US" dirty="0"/>
                        <a:t>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8813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aReallyLongButOkayVariable</a:t>
                      </a:r>
                      <a:r>
                        <a:rPr lang="en-US" dirty="0"/>
                        <a:t> = “Acceptable?”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156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123Pianos =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82848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for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8508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print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690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C603A6-15F1-DDF3-C6DA-BAE11A2F1C93}"/>
              </a:ext>
            </a:extLst>
          </p:cNvPr>
          <p:cNvSpPr txBox="1"/>
          <p:nvPr/>
        </p:nvSpPr>
        <p:spPr>
          <a:xfrm>
            <a:off x="4481647" y="1727018"/>
            <a:ext cx="4037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Yes, but you will no longer be able to use the print()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970" y="1288929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</a:t>
            </a:r>
            <a:r>
              <a:rPr lang="en-US" b="1" dirty="0"/>
              <a:t> should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(17”)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5083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Take a Break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73508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Python 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60680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b="1" dirty="0"/>
              <a:t>Use print() function to </a:t>
            </a:r>
            <a:r>
              <a:rPr lang="en-US" b="1" i="1" dirty="0"/>
              <a:t>display</a:t>
            </a:r>
            <a:r>
              <a:rPr lang="en-US" b="1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41" y="308611"/>
            <a:ext cx="7498979" cy="685800"/>
          </a:xfrm>
        </p:spPr>
        <p:txBody>
          <a:bodyPr/>
          <a:lstStyle/>
          <a:p>
            <a:r>
              <a:rPr lang="en-US" dirty="0"/>
              <a:t>Interacting With Scripts – Input()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b="1" u="sng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7AE7-59CE-6962-857F-F2884A3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8AB-F58F-3AD7-A983-4691484C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8CA-CA6D-1EF6-8967-F3F09C1B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FE6B32-8BCD-21BD-6960-49234A33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Write a Python Script that:</a:t>
            </a:r>
          </a:p>
          <a:p>
            <a:pPr lvl="1"/>
            <a:r>
              <a:rPr lang="en-US" sz="1800" dirty="0"/>
              <a:t>Asks the user for their name</a:t>
            </a:r>
          </a:p>
          <a:p>
            <a:pPr lvl="1"/>
            <a:r>
              <a:rPr lang="en-US" sz="1800" dirty="0"/>
              <a:t>Asks the user for their favorite number</a:t>
            </a:r>
          </a:p>
          <a:p>
            <a:pPr lvl="1"/>
            <a:r>
              <a:rPr lang="en-US" sz="1800" dirty="0"/>
              <a:t>Prints “Hello” and then their name</a:t>
            </a:r>
          </a:p>
          <a:p>
            <a:pPr lvl="1"/>
            <a:r>
              <a:rPr lang="en-US" sz="1800" dirty="0"/>
              <a:t>Prints “Your favorite number is” and then their favorite number</a:t>
            </a:r>
          </a:p>
          <a:p>
            <a:pPr lvl="1"/>
            <a:r>
              <a:rPr lang="en-US" sz="1800" dirty="0"/>
              <a:t>Prints “Your favorite number minus 10 is” their favorite number minus 10</a:t>
            </a:r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CF6EC31-5E42-863C-C59E-B60FBACB2A8B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In Class Exercise 3 – SIMPLE INPUT</a:t>
            </a:r>
          </a:p>
        </p:txBody>
      </p:sp>
    </p:spTree>
    <p:extLst>
      <p:ext uri="{BB962C8B-B14F-4D97-AF65-F5344CB8AC3E}">
        <p14:creationId xmlns:p14="http://schemas.microsoft.com/office/powerpoint/2010/main" val="261953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3E0-3E87-00EB-FAED-C1660C7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AF59-EA2D-41F4-9542-F2556090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19CF-0F77-60E2-B8F0-81835FEAD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668B5-9C66-E6D4-D5EA-B52A0AAC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What datatypes can it accept?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691970B-10BB-3724-A871-F43E1C6BBA17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242B1-EC70-BB1C-21A7-77FF1166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96" y="1947775"/>
            <a:ext cx="2600688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308B4-278C-41B1-7565-C6C0C20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10" y="1985879"/>
            <a:ext cx="11241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F46-32C4-D97A-2CDA-CB446227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710F-3054-E3CB-71DD-AE87699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C50-A130-65F9-787C-BB8C6524C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659BD-04EB-5DBE-153D-2B26AD2B9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Can print multiple statements, separated by a comma.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03186685-4D5D-E9C1-362A-E2AACD998E2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3B86D-3DF5-F1CB-FC04-16E075C1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1" y="1609399"/>
            <a:ext cx="3848637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769B3-5743-59FB-9517-7A2D390A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1" y="2143065"/>
            <a:ext cx="2324424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426-5200-2081-D734-3DE99C0B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F51D-47FB-6EB4-FEE9-48B433BD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367B-8919-C24E-1C21-3A0CAA372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F9EE95-C8BA-DDA4-8B0B-79B296C21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Very powerful.  Learn to use f strings. (You’re a professional”)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5B1C8CF2-AD2A-8F6B-39B9-4BE56A8AC4E3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F- Strings in python (formatted string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D3A350-C0ED-5577-784C-A1EB02A0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71"/>
          <a:stretch>
            <a:fillRect/>
          </a:stretch>
        </p:blipFill>
        <p:spPr>
          <a:xfrm>
            <a:off x="5821682" y="2463013"/>
            <a:ext cx="2324424" cy="57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DA1CF-4398-2441-0FE6-3E73DE0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19" y="1766419"/>
            <a:ext cx="409632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0E60F-967B-4F51-FF14-01DB4558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B20DC-141D-0EA6-2DB3-6127BB6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B37-34CC-2833-B0D1-8033C5D0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60F3D6-2B27-E1E8-7FD6-52332095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Allows you to embed variables and expressions directly inside of your print statements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7CCD6B8A-3147-F5FF-D504-A50D5B50DCB8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30A3-ABE9-B872-F237-7A4DA7D9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158"/>
            <a:ext cx="9144000" cy="1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E3B8-2AC9-0F56-37B0-F00CA71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B4C0-C2B6-F740-79BE-D5B5D885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F1B-C5B0-A2C0-6F8F-0B105888A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EA95C1-7CF7-F7EC-079D-752391BE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Allows you to apply formatters to determine how many decimal points to print, and much more!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8AF2C36-CD84-8632-AE86-165029DC9C0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134-9D2E-74DC-378C-F5603A43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33" y="2074155"/>
            <a:ext cx="3343742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5689F-9638-128C-5CD1-E045B676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27" y="2324018"/>
            <a:ext cx="287695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4 – Pizza </a:t>
            </a:r>
            <a:r>
              <a:rPr lang="en-US" dirty="0" err="1"/>
              <a:t>pizza</a:t>
            </a:r>
            <a:endParaRPr lang="en-US" dirty="0"/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Write a script that prompts the user for a diameter of the pizza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for the second deal), and the two costs.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C96FF60-8B2A-33AE-6FC8-39DBC6F8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2D5FCA0-A39D-D3A4-6158-5DADB9C42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RECAP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71AD36F2-6C06-92A2-90E5-F692789F9E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/>
            <a:r>
              <a:rPr lang="en-US" dirty="0"/>
              <a:t>What is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are some data types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interactively run the Python Interpreter?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run a python script?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is the order of operations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if expressions have the same precedence in PEMDAS?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get text input from a user?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datatype does the input() function return?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9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</TotalTime>
  <Words>1711</Words>
  <Application>Microsoft Office PowerPoint</Application>
  <PresentationFormat>On-screen Show (16:9)</PresentationFormat>
  <Paragraphs>409</Paragraphs>
  <Slides>36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What does kobe Bryant have to do with becoming a software developer?</vt:lpstr>
      <vt:lpstr>My teaching philosophy</vt:lpstr>
      <vt:lpstr> Course Schedule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Operators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</vt:lpstr>
      <vt:lpstr>Variable Naming Rules and Conventions</vt:lpstr>
      <vt:lpstr>Variable Naming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 – Input()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 4 – Pizza pizza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144</cp:revision>
  <dcterms:modified xsi:type="dcterms:W3CDTF">2026-07-09T22:12:06Z</dcterms:modified>
</cp:coreProperties>
</file>